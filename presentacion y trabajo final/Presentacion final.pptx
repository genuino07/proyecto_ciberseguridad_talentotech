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9D3161-1A53-4860-B0E6-F76096B2FD22}">
  <a:tblStyle styleId="{639D3161-1A53-4860-B0E6-F76096B2FD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34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587" y="4415730"/>
            <a:ext cx="10410825" cy="939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3262" y="365339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30279" y="1465439"/>
            <a:ext cx="10931400" cy="2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Análisis Exploratorio de Datos (EDA)</a:t>
            </a:r>
            <a:endParaRPr b="1" sz="3150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Ciberseguridad Global</a:t>
            </a:r>
            <a:endParaRPr b="1" sz="3150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Tendencias, Impacto Financiero y Defensa</a:t>
            </a:r>
            <a:endParaRPr b="1" sz="3150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(2015–2024)</a:t>
            </a:r>
            <a:endParaRPr b="1" sz="3150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43262" y="3976644"/>
            <a:ext cx="1041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B5C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Informe de Investigación – Proyecto Bootcamp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90587" y="4711005"/>
            <a:ext cx="1041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Autores: S. Builes, J. Hernandez, V. Restrepo, J. Zuñiga, J. Molinares, J. Ortiz, C. Piedrahita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90587" y="5080545"/>
            <a:ext cx="1041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 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 abril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0193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El Ecosistema Hiperconectado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14588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transformación digital, el IoT y el cómputo en la nube han potenciado la innovación, pero también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 ampliado exponencialmente la superficie de ataque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70975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Impacto Billonario: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costo global del cibercrimen superó los 8 billones de dólares en el año 2023.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50985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Riesgo Sistémico: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Los incidentes cibernéticos son equiparables en gravedad a crisis geopolíticas.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30995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Daños Intangibles: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Erosión de confianza y pérdida severa de ventaja competitiva a largo plazo.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Contexto y Relevancia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571500" y="14859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análisis se fundamenta en el dataset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Global Cybersecurity Threats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que contiene exactamente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3.000 registros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alta calidad y sin valores nulos, abarcando la última década (2015-2024).</a:t>
            </a:r>
            <a:endParaRPr/>
          </a:p>
        </p:txBody>
      </p:sp>
      <p:graphicFrame>
        <p:nvGraphicFramePr>
          <p:cNvPr id="109" name="Google Shape;109;p15"/>
          <p:cNvGraphicFramePr/>
          <p:nvPr/>
        </p:nvGraphicFramePr>
        <p:xfrm>
          <a:off x="1573200" y="2428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{639D3161-1A53-4860-B0E6-F76096B2FD22}</a:tableStyleId>
              </a:tblPr>
              <a:tblGrid>
                <a:gridCol w="1852625"/>
                <a:gridCol w="1447800"/>
                <a:gridCol w="6186475"/>
              </a:tblGrid>
              <a:tr h="21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Descripción Estratégica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Country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Categórica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País donde ocurrió el incidente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Year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Numérica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Año del incidente (2015–2024)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Attack Type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Categórica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Tipo de ciberataque (DDoS, Phishing, etc.)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Target Industry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Categórica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Sector industrial objetivo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Financial Loss (in Million $)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Numérica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Pérdida económica estimada en millones de USD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Number of Affected Users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Numérica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Cantidad de usuarios comprometidos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Attack Source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Categórica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Origen de la amenaza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Vulnerability Type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Categórica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Tipo de vulnerabilidad explotada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Defense Mechanism Used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Categórica</a:t>
                      </a:r>
                      <a:endParaRPr b="0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Mecanismo de defensa empleado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Incident Resolution Time (in Hours)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Numérica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Tiempo de resolución del incidente en horas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571500" y="52387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Descripción del Dataset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53340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5962"/>
            <a:ext cx="53340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66775" y="3148012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Marco Metodológico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3614737"/>
            <a:ext cx="4743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análisis estadístico se desarrolló utilizando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(v3.12)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 el entorno Google Colaboratory. Se implementaron bibliotecas estándar de la industria como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Pandas, NumPy, Seaborn y Plotly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extracción, limpieza y generación de perfilado automatizado.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581775" y="3148012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Inspección Inicial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81775" y="3614737"/>
            <a:ext cx="4743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validación de calidad arrojó un estado óptimo: cero valores ausentes y cero registros duplicados en los 3.000 incidentes. Esta limpieza metodológica mitiga sesgos de entrenamiento y asegura que ninguna clase esté sobrerrepresentada artificialmente.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424112"/>
            <a:ext cx="3810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424112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Metodología y Exploración Inicial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53340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85987"/>
            <a:ext cx="53340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866775" y="2671762"/>
            <a:ext cx="4743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75" u="none" cap="none" strike="noStrike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$50.5M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66775" y="3671887"/>
            <a:ext cx="4743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Pérdida Media por Incidente (USD)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581775" y="2671762"/>
            <a:ext cx="4743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75" u="none" cap="none" strike="noStrike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36.5h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581775" y="3671887"/>
            <a:ext cx="4743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Tiempo de Resolución Promedio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Estadísticas Descriptivas y Distribución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3037"/>
            <a:ext cx="1104900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144303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 seis vectores de ataque registrados presentan frecuencias estadísticamente comparables (500 incidentes cada uno).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333500" y="5462587"/>
            <a:ext cx="952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paridad observada prohíbe tratar a cualquier amenaza como "secundaria". Exige inversiones holísticas que enfrenten tanto el Ransomware moderno como las técnicas tradicionales de inyección de código.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81012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Frecuencia de Tipos de Ataque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71500" y="109061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71500" y="204311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democratización del riesgo: sectores tradicionalmente con presupuestos limitados son ahora objetivos primarios debido a la interconexión de la cadena de suministro.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Registro por Industria Objetivo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4937"/>
            <a:ext cx="1104900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1333500" y="5500687"/>
            <a:ext cx="952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b="1" i="1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25.1% de ataques originados internamente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evidencia que el enemigo ya posee accesos privilegiados. Esto vuelve obsoleta la seguridad perimetral clásica y obliga a transicionar hacia esquemas de confianza cero.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442912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Distribución por Fuente de Ataque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71500" y="105251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571500" y="226695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El Paradigma del Tiempo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27336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gráficas de dispersión no revelan tendencias lineales ni estructuras de agrupamiento.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No existe correlación entre el tiempo de resolución y el costo financiero.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71500" y="398152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 respuesta técnica rápida (en horas) no garantiza la reducción de las pérdidas.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71500" y="4781625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daño económico se determina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antes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incidente: robustez preventiva, segmentación de red y datos expuestos.</a:t>
            </a:r>
            <a:endParaRPr/>
          </a:p>
        </p:txBody>
      </p:sp>
      <p:pic>
        <p:nvPicPr>
          <p:cNvPr descr="image.png" id="179" name="Google Shape;17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Dispersión: Tiempo vs. Pérdida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571500" y="571500"/>
            <a:ext cx="555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Multivariado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571500" y="1181100"/>
            <a:ext cx="5286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571500" y="25146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Correlación Nula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571500" y="2981325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mapa de calor valida la independencia estadística entre Pérdida Financiera, Usuarios Afectados y Tiempo de Resolución.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571500" y="4497500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Este hallazgo contraintuitivo significa que los determinantes del impacto cibernético son cualitativos (postura de seguridad, tipo de ataque) y no estrictamente cuantitativos.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120413"/>
            <a:ext cx="123869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623" y="1056300"/>
            <a:ext cx="5286375" cy="490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87797"/>
            <a:ext cx="11049000" cy="544443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1385850" y="5403827"/>
            <a:ext cx="952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comportamiento es estacionario. A diferencia de eventos estacionales, la constancia en el impacto exige mantener presupuestos de seguridad y pólizas de ciberseguros permanentemente activos en las organizaciones.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71500" y="225772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Análisis Temporal (2015-2024)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571500" y="83537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1637"/>
            <a:ext cx="34290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71637"/>
            <a:ext cx="34290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671637"/>
            <a:ext cx="3429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866775" y="28336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Estructura Sintética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866775" y="3300412"/>
            <a:ext cx="28384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distribución uniforme del dataset y la ausencia de valores extremos facilitan el aprendizaje metodológico, pero deben complementarse con datos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mega-incidentes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mundo real.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4676775" y="2833687"/>
            <a:ext cx="298037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Impacto Independiente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4676775" y="3624262"/>
            <a:ext cx="28384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pérdidas económicas promedian los $50 millones, pero su nula correlación con los tiempos de respuesta reafirma que el ROI en ciberseguridad reside en evitar el ataque inicial.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8486775" y="28336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Diversidad Ofensiva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8486775" y="3300412"/>
            <a:ext cx="28384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Ningún actor (Estado, Hacker, Insider) monopoliza las agresiones, forzando a la Alta Dirección a contemplar defensas perimetrales y protocolos estrictos de recursos humanos a la par.</a:t>
            </a:r>
            <a:endParaRPr/>
          </a:p>
        </p:txBody>
      </p:sp>
      <p:pic>
        <p:nvPicPr>
          <p:cNvPr descr="image.png" id="216" name="Google Shape;21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109787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109787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109787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Discusión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3429000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457325"/>
            <a:ext cx="3429000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457325"/>
            <a:ext cx="3429000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466850"/>
            <a:ext cx="3409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819150" y="3800475"/>
            <a:ext cx="308038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Zero Trust Architecture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819150" y="4591050"/>
            <a:ext cx="2933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Ante el 25% de ataques internos, retirar el acceso implícito a la red; exigir verificación continua de identidades y mínimo privilegio.</a:t>
            </a:r>
            <a:endParaRPr/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1025" y="1466850"/>
            <a:ext cx="3409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4629150" y="3800475"/>
            <a:ext cx="308038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Segmentación de Red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4629150" y="4591050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Invertir en aislar recursos críticos previene el movimiento lateral del atacante, reduciendo drásticamente las pérdidas económicas.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1466850"/>
            <a:ext cx="3409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8439150" y="380047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8439150" y="4267200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Extrapolar el EDA hacia modelos de clasificación y agrupamiento para predecir vectores y automatizar defensas inteligentemente.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571500" y="4953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295275" y="219744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Preguntas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571500" y="3311872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Agradecemos su atención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571500" y="136237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71500" y="23452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571500" y="313000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571500" y="39147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571500" y="469954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71500" y="23357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571500" y="23357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571500" y="31204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571500" y="31204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571500" y="3905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571500" y="3905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571500" y="46900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571500" y="46900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571500" y="54747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571500" y="54747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09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1666875" y="150524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https://img.freepik.com/premium-photo/cyber-security-information-network-protection-concept-with-bright-glowing-digital-lock-with-keyhole-inside-abstract-technological-background-3d-rendering_670147-1473.jpg?semt=ais_incoming&amp;w=740&amp;q=80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1666875" y="19490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270" name="Google Shape;27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946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 txBox="1"/>
          <p:nvPr/>
        </p:nvSpPr>
        <p:spPr>
          <a:xfrm>
            <a:off x="1666875" y="24881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https://adaptistconsulting.com/wp-content/uploads/2026/03/Salinan-dari-Teks-paragraf-Anda-31.jpg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1666875" y="27338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adaptistconsulting.com</a:t>
            </a:r>
            <a:endParaRPr/>
          </a:p>
        </p:txBody>
      </p:sp>
      <p:pic>
        <p:nvPicPr>
          <p:cNvPr descr="image.png" id="273" name="Google Shape;27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94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1666875" y="32728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https://www.elegantthemes.com/blog/wp-content/uploads/2019/12/hotjar-2.png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1666875" y="35185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www.elegantthemes.com</a:t>
            </a:r>
            <a:endParaRPr/>
          </a:p>
        </p:txBody>
      </p:sp>
      <p:pic>
        <p:nvPicPr>
          <p:cNvPr descr="image.png" id="276" name="Google Shape;27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641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 txBox="1"/>
          <p:nvPr/>
        </p:nvSpPr>
        <p:spPr>
          <a:xfrm>
            <a:off x="1666875" y="40576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https://www.zentera.net/hs-fs/hubfs/What-Is-Zero-Trust.png?width=800&amp;height=600&amp;name=What-Is-Zero-Trust.png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1666875" y="43033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www.zentera.net</a:t>
            </a:r>
            <a:endParaRPr/>
          </a:p>
        </p:txBody>
      </p:sp>
      <p:pic>
        <p:nvPicPr>
          <p:cNvPr descr="image.png" id="279" name="Google Shape;27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489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1666875" y="484242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https://intelligentvisibility.com/hs-fs/hubfs/Screenshot%202025-04-05%20at%201.18.51%20PM.png?width=1793&amp;quality=low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1666875" y="50881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intelligentvisibility.com</a:t>
            </a:r>
            <a:endParaRPr/>
          </a:p>
        </p:txBody>
      </p:sp>
      <p:pic>
        <p:nvPicPr>
          <p:cNvPr descr="image.png" id="282" name="Google Shape;28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328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1666875" y="562719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https://img.freepik.com/premium-photo/artificial-intelligence-new-technology-science-futuristic-abstract-human-brain-ai-technology-cpu-central-processor-unit-chipset-big-data-machine-learning-cyber-mind-domination-generative-ai_771426-2898.jpg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1666875" y="607099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571500" y="400347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Referencias</a:t>
            </a:r>
            <a:endParaRPr/>
          </a:p>
        </p:txBody>
      </p:sp>
      <p:sp>
        <p:nvSpPr>
          <p:cNvPr id="286" name="Google Shape;286;p27"/>
          <p:cNvSpPr/>
          <p:nvPr/>
        </p:nvSpPr>
        <p:spPr>
          <a:xfrm>
            <a:off x="571500" y="1009947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